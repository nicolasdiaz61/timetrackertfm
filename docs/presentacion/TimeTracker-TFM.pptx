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ff039704-c3fe-da34-ab68-e0997987322e}">
          <p14:sldIdLst>
            <p14:sldId id="256"/>
          </p14:sldIdLst>
        </p14:section>
        <p14:section name="Producto" id="{7007f7ea-1844-ccb2-47e2-9957db17b2df}">
          <p14:sldIdLst>
            <p14:sldId id="257"/>
            <p14:sldId id="258"/>
          </p14:sldIdLst>
        </p14:section>
        <p14:section name="Técnica" id="{8bc141e6-385a-25e4-5b68-54590303da62}">
          <p14:sldIdLst>
            <p14:sldId id="259"/>
            <p14:sldId id="260"/>
          </p14:sldIdLst>
        </p14:section>
        <p14:section name="Demostración" id="{42bb976b-2b17-361c-29fa-f9def5fe500a}">
          <p14:sldIdLst>
            <p14:sldId id="261"/>
            <p14:sldId id="262"/>
            <p14:sldId id="263"/>
            <p14:sldId id="264"/>
            <p14:sldId id="265"/>
          </p14:sldIdLst>
        </p14:section>
        <p14:section name="Cierre" id="{37cead36-b680-a911-7ad4-769d286b8ab5}">
          <p14:sldIdLst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del producto: una aplicación web para fichar, consultar el tiempo trabajado y preguntar en lenguaje natural a un asistente de 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necesidades: fichar fácil, que el responsable vea su equipo y poder consultar los datos hablando.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Resumen de lo que hay construido y desplegado.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Web no tiene reglas de negocio ni habla con el modelo: todo pasa por la API. El proveedor de IA se cambia por configuración, sin tocar código.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endpoint y cada herramienta del asistente se prueba con dos compañías: B no ve ni distingue nada de 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Pantalla de inicio de la responsable Marta Ruiz, de la compañía de demostración Demo TFM.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responsable solo ve a sus reportes directos.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Vista del responsable: Carlos Navarro, con su jornada de oficina.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jornadas de ejemplo: Oficina (09:00 a 18:00), Madrugador (08:00 a 16:45) y Media jornada (08:00 a 12:00). Las horas esperadas por día salen de la hora de salida menos el almuerzo. Solo los responsables las gestionan.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Captura con una respuesta de ejemplo y datos de demostración. Cada compañía configura su proveedor (Anthropic, OpenAI, Gemini, Groq u Ollama) y su clave, cifrada con AES-256-GCM.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cifras de cobertura son umbrales que la CI exige en cada pull request.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Web: web-production-a744a.up.railway.app. Los datos de demostración son inventados.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Lo pendiente está registrado como seguimiento en las pull requests y en el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371600"/>
            <a:ext cx="37490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2468880"/>
            <a:ext cx="37490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137160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TimeTracker</a:t>
            </a:r>
            <a:endParaRPr lang="en-US" sz="4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246888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Control de tiempos y ausencias con un asistente de IA</a:t>
            </a:r>
            <a:endParaRPr lang="en-US" sz="1800" dirty="0"/>
          </a:p>
        </p:txBody>
      </p:sp>
      <p:sp>
        <p:nvSpPr>
          <p:cNvPr id="4" name="Etiqueta"/>
          <p:cNvSpPr txBox="1"/>
          <p:nvPr/>
        </p:nvSpPr>
        <p:spPr>
          <a:xfrm>
            <a:off x="548640" y="4206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Trabajo Fin de Máster · Demostración</a:t>
            </a:r>
            <a:endParaRPr lang="en-US" sz="1400" dirty="0"/>
          </a:p>
        </p:txBody>
      </p:sp>
      <p:pic>
        <p:nvPicPr>
          <p:cNvPr id="5" name="Captura Fichajes del equipo" descr="Fichajes del equip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371600"/>
            <a:ext cx="4023360" cy="2016919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Qué problema resuelve</a:t>
            </a:r>
            <a:endParaRPr lang="en-US" sz="2800" dirty="0"/>
          </a:p>
        </p:txBody>
      </p:sp>
      <p:sp>
        <p:nvSpPr>
          <p:cNvPr id="3" name="Tarjeta 1"/>
          <p:cNvSpPr/>
          <p:nvPr/>
        </p:nvSpPr>
        <p:spPr>
          <a:xfrm>
            <a:off x="457200" y="1280160"/>
            <a:ext cx="2560320" cy="301752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4" name="Círculo Fichar sin fricción"/>
          <p:cNvSpPr/>
          <p:nvPr/>
        </p:nvSpPr>
        <p:spPr>
          <a:xfrm>
            <a:off x="685800" y="15087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o Fichar sin fricción" descr="Fichar sin fricció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618" y="1649578"/>
            <a:ext cx="358445" cy="358445"/>
          </a:xfrm>
          <a:prstGeom prst="rect">
            <a:avLst/>
          </a:prstGeom>
        </p:spPr>
      </p:pic>
      <p:sp>
        <p:nvSpPr>
          <p:cNvPr id="6" name="Título 1"/>
          <p:cNvSpPr txBox="1"/>
          <p:nvPr/>
        </p:nvSpPr>
        <p:spPr>
          <a:xfrm>
            <a:off x="685800" y="23317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Fichar sin fricción</a:t>
            </a:r>
            <a:endParaRPr lang="en-US" sz="1800" dirty="0"/>
          </a:p>
        </p:txBody>
      </p:sp>
      <p:sp>
        <p:nvSpPr>
          <p:cNvPr id="7" name="Texto 1"/>
          <p:cNvSpPr txBox="1"/>
          <p:nvPr/>
        </p:nvSpPr>
        <p:spPr>
          <a:xfrm>
            <a:off x="685800" y="30175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Iniciar, pausar, comer y terminar la jornada con un clic.</a:t>
            </a:r>
            <a:endParaRPr lang="en-US" sz="1400" dirty="0"/>
          </a:p>
        </p:txBody>
      </p:sp>
      <p:sp>
        <p:nvSpPr>
          <p:cNvPr id="8" name="Tarjeta 2"/>
          <p:cNvSpPr/>
          <p:nvPr/>
        </p:nvSpPr>
        <p:spPr>
          <a:xfrm>
            <a:off x="3291840" y="1280160"/>
            <a:ext cx="2560320" cy="301752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9" name="Círculo Visibilidad para el responsable"/>
          <p:cNvSpPr/>
          <p:nvPr/>
        </p:nvSpPr>
        <p:spPr>
          <a:xfrm>
            <a:off x="3520440" y="150876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0" name="Icono Visibilidad para el responsable" descr="Visibilidad para el responsab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1258" y="1649578"/>
            <a:ext cx="358445" cy="358445"/>
          </a:xfrm>
          <a:prstGeom prst="rect">
            <a:avLst/>
          </a:prstGeom>
        </p:spPr>
      </p:pic>
      <p:sp>
        <p:nvSpPr>
          <p:cNvPr id="11" name="Título 2"/>
          <p:cNvSpPr txBox="1"/>
          <p:nvPr/>
        </p:nvSpPr>
        <p:spPr>
          <a:xfrm>
            <a:off x="3520440" y="23317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Visibilidad para el responsable</a:t>
            </a:r>
            <a:endParaRPr lang="en-US" sz="1800" dirty="0"/>
          </a:p>
        </p:txBody>
      </p:sp>
      <p:sp>
        <p:nvSpPr>
          <p:cNvPr id="12" name="Texto 2"/>
          <p:cNvSpPr txBox="1"/>
          <p:nvPr/>
        </p:nvSpPr>
        <p:spPr>
          <a:xfrm>
            <a:off x="3520440" y="30175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Horas trabajadas, pausas y comidas de su equipo, mes a mes.</a:t>
            </a:r>
            <a:endParaRPr lang="en-US" sz="1400" dirty="0"/>
          </a:p>
        </p:txBody>
      </p:sp>
      <p:sp>
        <p:nvSpPr>
          <p:cNvPr id="13" name="Tarjeta 3"/>
          <p:cNvSpPr/>
          <p:nvPr/>
        </p:nvSpPr>
        <p:spPr>
          <a:xfrm>
            <a:off x="6126480" y="1280160"/>
            <a:ext cx="2560320" cy="301752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14" name="Círculo Preguntar en lenguaje natural"/>
          <p:cNvSpPr/>
          <p:nvPr/>
        </p:nvSpPr>
        <p:spPr>
          <a:xfrm>
            <a:off x="6355080" y="150876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5" name="Icono Preguntar en lenguaje natural" descr="Preguntar en lenguaje natura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5898" y="1649578"/>
            <a:ext cx="358445" cy="358445"/>
          </a:xfrm>
          <a:prstGeom prst="rect">
            <a:avLst/>
          </a:prstGeom>
        </p:spPr>
      </p:pic>
      <p:sp>
        <p:nvSpPr>
          <p:cNvPr id="16" name="Título 3"/>
          <p:cNvSpPr txBox="1"/>
          <p:nvPr/>
        </p:nvSpPr>
        <p:spPr>
          <a:xfrm>
            <a:off x="6355080" y="23317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Preguntar en lenguaje natural</a:t>
            </a:r>
            <a:endParaRPr lang="en-US" sz="1800" dirty="0"/>
          </a:p>
        </p:txBody>
      </p:sp>
      <p:sp>
        <p:nvSpPr>
          <p:cNvPr id="17" name="Texto 3"/>
          <p:cNvSpPr txBox="1"/>
          <p:nvPr/>
        </p:nvSpPr>
        <p:spPr>
          <a:xfrm>
            <a:off x="6355080" y="30175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«¿Quién llega más tarde?» respondido sobre datos reales.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Funcionalidades</a:t>
            </a:r>
            <a:endParaRPr lang="en-US" sz="2800" dirty="0"/>
          </a:p>
        </p:txBody>
      </p:sp>
      <p:sp>
        <p:nvSpPr>
          <p:cNvPr id="3" name="Tarjeta Fichajes"/>
          <p:cNvSpPr/>
          <p:nvPr/>
        </p:nvSpPr>
        <p:spPr>
          <a:xfrm>
            <a:off x="457200" y="1188720"/>
            <a:ext cx="256032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4" name="Círculo Fichajes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o Fichajes" descr="Fichaj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472184"/>
            <a:ext cx="256032" cy="256032"/>
          </a:xfrm>
          <a:prstGeom prst="rect">
            <a:avLst/>
          </a:prstGeom>
        </p:spPr>
      </p:pic>
      <p:sp>
        <p:nvSpPr>
          <p:cNvPr id="6" name="Título Fichajes"/>
          <p:cNvSpPr txBox="1"/>
          <p:nvPr/>
        </p:nvSpPr>
        <p:spPr>
          <a:xfrm>
            <a:off x="1234440" y="1371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Fichajes</a:t>
            </a:r>
            <a:endParaRPr lang="en-US" sz="1600" dirty="0"/>
          </a:p>
        </p:txBody>
      </p:sp>
      <p:sp>
        <p:nvSpPr>
          <p:cNvPr id="7" name="Texto Fichajes"/>
          <p:cNvSpPr txBox="1"/>
          <p:nvPr/>
        </p:nvSpPr>
        <p:spPr>
          <a:xfrm>
            <a:off x="640080" y="19659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Trabajo, pausa y comida en tiempo real.</a:t>
            </a:r>
            <a:endParaRPr lang="en-US" sz="1400" dirty="0"/>
          </a:p>
        </p:txBody>
      </p:sp>
      <p:sp>
        <p:nvSpPr>
          <p:cNvPr id="8" name="Tarjeta Vista mensual"/>
          <p:cNvSpPr/>
          <p:nvPr/>
        </p:nvSpPr>
        <p:spPr>
          <a:xfrm>
            <a:off x="3291840" y="1188720"/>
            <a:ext cx="256032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9" name="Círculo Vista mensual"/>
          <p:cNvSpPr/>
          <p:nvPr/>
        </p:nvSpPr>
        <p:spPr>
          <a:xfrm>
            <a:off x="3474720" y="137160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0" name="Icono Vista mensual" descr="Vista mensu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304" y="1472184"/>
            <a:ext cx="256032" cy="256032"/>
          </a:xfrm>
          <a:prstGeom prst="rect">
            <a:avLst/>
          </a:prstGeom>
        </p:spPr>
      </p:pic>
      <p:sp>
        <p:nvSpPr>
          <p:cNvPr id="11" name="Título Vista mensual"/>
          <p:cNvSpPr txBox="1"/>
          <p:nvPr/>
        </p:nvSpPr>
        <p:spPr>
          <a:xfrm>
            <a:off x="4069080" y="1371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Vista mensual</a:t>
            </a:r>
            <a:endParaRPr lang="en-US" sz="1600" dirty="0"/>
          </a:p>
        </p:txBody>
      </p:sp>
      <p:sp>
        <p:nvSpPr>
          <p:cNvPr id="12" name="Texto Vista mensual"/>
          <p:cNvSpPr txBox="1"/>
          <p:nvPr/>
        </p:nvSpPr>
        <p:spPr>
          <a:xfrm>
            <a:off x="3474720" y="19659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Franjas por día y resumen de horas.</a:t>
            </a:r>
            <a:endParaRPr lang="en-US" sz="1400" dirty="0"/>
          </a:p>
        </p:txBody>
      </p:sp>
      <p:sp>
        <p:nvSpPr>
          <p:cNvPr id="13" name="Tarjeta Equipo"/>
          <p:cNvSpPr/>
          <p:nvPr/>
        </p:nvSpPr>
        <p:spPr>
          <a:xfrm>
            <a:off x="6126480" y="1188720"/>
            <a:ext cx="256032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14" name="Círculo Equipo"/>
          <p:cNvSpPr/>
          <p:nvPr/>
        </p:nvSpPr>
        <p:spPr>
          <a:xfrm>
            <a:off x="6309360" y="137160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5" name="Icono Equipo" descr="Equip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944" y="1472184"/>
            <a:ext cx="256032" cy="256032"/>
          </a:xfrm>
          <a:prstGeom prst="rect">
            <a:avLst/>
          </a:prstGeom>
        </p:spPr>
      </p:pic>
      <p:sp>
        <p:nvSpPr>
          <p:cNvPr id="16" name="Título Equipo"/>
          <p:cNvSpPr txBox="1"/>
          <p:nvPr/>
        </p:nvSpPr>
        <p:spPr>
          <a:xfrm>
            <a:off x="6903720" y="1371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Equipo</a:t>
            </a:r>
            <a:endParaRPr lang="en-US" sz="1600" dirty="0"/>
          </a:p>
        </p:txBody>
      </p:sp>
      <p:sp>
        <p:nvSpPr>
          <p:cNvPr id="17" name="Texto Equipo"/>
          <p:cNvSpPr txBox="1"/>
          <p:nvPr/>
        </p:nvSpPr>
        <p:spPr>
          <a:xfrm>
            <a:off x="6309360" y="19659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El responsable consulta a su gente.</a:t>
            </a:r>
            <a:endParaRPr lang="en-US" sz="1400" dirty="0"/>
          </a:p>
        </p:txBody>
      </p:sp>
      <p:sp>
        <p:nvSpPr>
          <p:cNvPr id="18" name="Tarjeta Jornadas"/>
          <p:cNvSpPr/>
          <p:nvPr/>
        </p:nvSpPr>
        <p:spPr>
          <a:xfrm>
            <a:off x="457200" y="2971800"/>
            <a:ext cx="256032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19" name="Círculo Jornadas"/>
          <p:cNvSpPr/>
          <p:nvPr/>
        </p:nvSpPr>
        <p:spPr>
          <a:xfrm>
            <a:off x="640080" y="315468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Icono Jornadas" descr="Jornada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3255264"/>
            <a:ext cx="256032" cy="256032"/>
          </a:xfrm>
          <a:prstGeom prst="rect">
            <a:avLst/>
          </a:prstGeom>
        </p:spPr>
      </p:pic>
      <p:sp>
        <p:nvSpPr>
          <p:cNvPr id="21" name="Título Jornadas"/>
          <p:cNvSpPr txBox="1"/>
          <p:nvPr/>
        </p:nvSpPr>
        <p:spPr>
          <a:xfrm>
            <a:off x="1234440" y="3154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Jornadas</a:t>
            </a:r>
            <a:endParaRPr lang="en-US" sz="1600" dirty="0"/>
          </a:p>
        </p:txBody>
      </p:sp>
      <p:sp>
        <p:nvSpPr>
          <p:cNvPr id="22" name="Texto Jornadas"/>
          <p:cNvSpPr txBox="1"/>
          <p:nvPr/>
        </p:nvSpPr>
        <p:spPr>
          <a:xfrm>
            <a:off x="640080" y="37490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Horario previsto y días, asignable.</a:t>
            </a:r>
            <a:endParaRPr lang="en-US" sz="1400" dirty="0"/>
          </a:p>
        </p:txBody>
      </p:sp>
      <p:sp>
        <p:nvSpPr>
          <p:cNvPr id="23" name="Tarjeta Multicompañía"/>
          <p:cNvSpPr/>
          <p:nvPr/>
        </p:nvSpPr>
        <p:spPr>
          <a:xfrm>
            <a:off x="3291840" y="2971800"/>
            <a:ext cx="256032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24" name="Círculo Multicompañía"/>
          <p:cNvSpPr/>
          <p:nvPr/>
        </p:nvSpPr>
        <p:spPr>
          <a:xfrm>
            <a:off x="3474720" y="3154680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5" name="Icono Multicompañía" descr="Multicompañía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5304" y="3255264"/>
            <a:ext cx="256032" cy="256032"/>
          </a:xfrm>
          <a:prstGeom prst="rect">
            <a:avLst/>
          </a:prstGeom>
        </p:spPr>
      </p:pic>
      <p:sp>
        <p:nvSpPr>
          <p:cNvPr id="26" name="Título Multicompañía"/>
          <p:cNvSpPr txBox="1"/>
          <p:nvPr/>
        </p:nvSpPr>
        <p:spPr>
          <a:xfrm>
            <a:off x="4069080" y="3154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Multicompañía</a:t>
            </a:r>
            <a:endParaRPr lang="en-US" sz="1600" dirty="0"/>
          </a:p>
        </p:txBody>
      </p:sp>
      <p:sp>
        <p:nvSpPr>
          <p:cNvPr id="27" name="Texto Multicompañía"/>
          <p:cNvSpPr txBox="1"/>
          <p:nvPr/>
        </p:nvSpPr>
        <p:spPr>
          <a:xfrm>
            <a:off x="3474720" y="37490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Varias empresas aisladas en una instancia.</a:t>
            </a:r>
            <a:endParaRPr lang="en-US" sz="1400" dirty="0"/>
          </a:p>
        </p:txBody>
      </p:sp>
      <p:sp>
        <p:nvSpPr>
          <p:cNvPr id="28" name="Tarjeta Asistente de IA"/>
          <p:cNvSpPr/>
          <p:nvPr/>
        </p:nvSpPr>
        <p:spPr>
          <a:xfrm>
            <a:off x="6126480" y="2971800"/>
            <a:ext cx="256032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29" name="Círculo Asistente de IA"/>
          <p:cNvSpPr/>
          <p:nvPr/>
        </p:nvSpPr>
        <p:spPr>
          <a:xfrm>
            <a:off x="6309360" y="31546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Icono Asistente de IA" descr="Asistente de IA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9944" y="3255264"/>
            <a:ext cx="256032" cy="256032"/>
          </a:xfrm>
          <a:prstGeom prst="rect">
            <a:avLst/>
          </a:prstGeom>
        </p:spPr>
      </p:pic>
      <p:sp>
        <p:nvSpPr>
          <p:cNvPr id="31" name="Título Asistente de IA"/>
          <p:cNvSpPr txBox="1"/>
          <p:nvPr/>
        </p:nvSpPr>
        <p:spPr>
          <a:xfrm>
            <a:off x="6903720" y="3154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Asistente de IA</a:t>
            </a:r>
            <a:endParaRPr lang="en-US" sz="1600" dirty="0"/>
          </a:p>
        </p:txBody>
      </p:sp>
      <p:sp>
        <p:nvSpPr>
          <p:cNvPr id="32" name="Texto Asistente de IA"/>
          <p:cNvSpPr txBox="1"/>
          <p:nvPr/>
        </p:nvSpPr>
        <p:spPr>
          <a:xfrm>
            <a:off x="6309360" y="37490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Consulta de fichajes en lenguaje natural.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Arquitectura</a:t>
            </a:r>
            <a:endParaRPr lang="en-US" sz="2800" dirty="0"/>
          </a:p>
        </p:txBody>
      </p:sp>
      <p:sp>
        <p:nvSpPr>
          <p:cNvPr id="3" name="Web"/>
          <p:cNvSpPr/>
          <p:nvPr/>
        </p:nvSpPr>
        <p:spPr>
          <a:xfrm>
            <a:off x="457200" y="1371600"/>
            <a:ext cx="2103120" cy="1371600"/>
          </a:xfrm>
          <a:prstGeom prst="roundRect">
            <a:avLst>
              <a:gd name="adj" fmla="val 5333"/>
            </a:avLst>
          </a:prstGeom>
          <a:solidFill>
            <a:schemeClr val="accent1"/>
          </a:solidFill>
          <a:ln/>
        </p:spPr>
      </p:sp>
      <p:sp>
        <p:nvSpPr>
          <p:cNvPr id="4" name="Texto Web"/>
          <p:cNvSpPr txBox="1"/>
          <p:nvPr/>
        </p:nvSpPr>
        <p:spPr>
          <a:xfrm>
            <a:off x="594360" y="13716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Navegador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Blazor WebAssembly. Solo presenta.</a:t>
            </a:r>
            <a:endParaRPr lang="en-US" sz="1600" dirty="0"/>
          </a:p>
        </p:txBody>
      </p:sp>
      <p:sp>
        <p:nvSpPr>
          <p:cNvPr id="5" name="API"/>
          <p:cNvSpPr/>
          <p:nvPr/>
        </p:nvSpPr>
        <p:spPr>
          <a:xfrm>
            <a:off x="3520440" y="1188720"/>
            <a:ext cx="2103120" cy="173736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/>
        </p:spPr>
      </p:sp>
      <p:sp>
        <p:nvSpPr>
          <p:cNvPr id="6" name="Texto API"/>
          <p:cNvSpPr txBox="1"/>
          <p:nvPr/>
        </p:nvSpPr>
        <p:spPr>
          <a:xfrm>
            <a:off x="3657600" y="1188720"/>
            <a:ext cx="1828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API .NET 10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Clean Architecture: Domain, Application, Infrastructure, Api</a:t>
            </a:r>
            <a:endParaRPr lang="en-US" sz="1600" dirty="0"/>
          </a:p>
        </p:txBody>
      </p:sp>
      <p:sp>
        <p:nvSpPr>
          <p:cNvPr id="7" name="BD"/>
          <p:cNvSpPr/>
          <p:nvPr/>
        </p:nvSpPr>
        <p:spPr>
          <a:xfrm>
            <a:off x="6583680" y="1371600"/>
            <a:ext cx="2103120" cy="1371600"/>
          </a:xfrm>
          <a:prstGeom prst="roundRect">
            <a:avLst>
              <a:gd name="adj" fmla="val 5333"/>
            </a:avLst>
          </a:prstGeom>
          <a:solidFill>
            <a:schemeClr val="accent4"/>
          </a:solidFill>
          <a:ln/>
        </p:spPr>
      </p:sp>
      <p:sp>
        <p:nvSpPr>
          <p:cNvPr id="8" name="Texto BD"/>
          <p:cNvSpPr txBox="1"/>
          <p:nvPr/>
        </p:nvSpPr>
        <p:spPr>
          <a:xfrm>
            <a:off x="6720840" y="13716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PostgreSQL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EF Core y migraciones versionadas</a:t>
            </a:r>
            <a:endParaRPr lang="en-US" sz="1600" dirty="0"/>
          </a:p>
        </p:txBody>
      </p:sp>
      <p:sp>
        <p:nvSpPr>
          <p:cNvPr id="9" name="Flecha Web API"/>
          <p:cNvSpPr/>
          <p:nvPr/>
        </p:nvSpPr>
        <p:spPr>
          <a:xfrm>
            <a:off x="2560320" y="2057400"/>
            <a:ext cx="96012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0" name="Flecha API BD"/>
          <p:cNvSpPr/>
          <p:nvPr/>
        </p:nvSpPr>
        <p:spPr>
          <a:xfrm>
            <a:off x="5623560" y="2057400"/>
            <a:ext cx="96012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1" name="Flecha API IA"/>
          <p:cNvSpPr/>
          <p:nvPr/>
        </p:nvSpPr>
        <p:spPr>
          <a:xfrm>
            <a:off x="4572000" y="2926080"/>
            <a:ext cx="0" cy="45720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2" name="IA"/>
          <p:cNvSpPr/>
          <p:nvPr/>
        </p:nvSpPr>
        <p:spPr>
          <a:xfrm>
            <a:off x="3520440" y="3383280"/>
            <a:ext cx="2103120" cy="1005840"/>
          </a:xfrm>
          <a:prstGeom prst="roundRect">
            <a:avLst>
              <a:gd name="adj" fmla="val 7273"/>
            </a:avLst>
          </a:prstGeom>
          <a:solidFill>
            <a:schemeClr val="accent3"/>
          </a:solidFill>
          <a:ln/>
        </p:spPr>
      </p:sp>
      <p:sp>
        <p:nvSpPr>
          <p:cNvPr id="13" name="Texto IA"/>
          <p:cNvSpPr txBox="1"/>
          <p:nvPr/>
        </p:nvSpPr>
        <p:spPr>
          <a:xfrm>
            <a:off x="3657600" y="33832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IChatClient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Proveedor de IA por configuración</a:t>
            </a:r>
            <a:endParaRPr lang="en-US" sz="1600" dirty="0"/>
          </a:p>
        </p:txBody>
      </p:sp>
      <p:sp>
        <p:nvSpPr>
          <p:cNvPr id="14" name="Proveedores"/>
          <p:cNvSpPr txBox="1"/>
          <p:nvPr/>
        </p:nvSpPr>
        <p:spPr>
          <a:xfrm>
            <a:off x="5806440" y="338328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Anthropic · OpenAI · Gemini · Groq · Ollama</a:t>
            </a:r>
            <a:endParaRPr lang="en-US" sz="1400" dirty="0"/>
          </a:p>
        </p:txBody>
      </p:sp>
      <p:sp>
        <p:nvSpPr>
          <p:cNvPr id="15" name="Nota arquitectura"/>
          <p:cNvSpPr txBox="1"/>
          <p:nvPr/>
        </p:nvSpPr>
        <p:spPr>
          <a:xfrm>
            <a:off x="457200" y="35661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Monolito modular con contrato OpenAPI, empaquetado en Docker.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Multicompañía y seguridad</a:t>
            </a:r>
            <a:endParaRPr lang="en-US" sz="2800" dirty="0"/>
          </a:p>
        </p:txBody>
      </p:sp>
      <p:sp>
        <p:nvSpPr>
          <p:cNvPr id="3" name="Tarjeta Aislamiento por compañía"/>
          <p:cNvSpPr/>
          <p:nvPr/>
        </p:nvSpPr>
        <p:spPr>
          <a:xfrm>
            <a:off x="457200" y="1188720"/>
            <a:ext cx="402336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/>
        </p:spPr>
      </p:sp>
      <p:sp>
        <p:nvSpPr>
          <p:cNvPr id="4" name="Círculo Aislamiento por compañía"/>
          <p:cNvSpPr/>
          <p:nvPr/>
        </p:nvSpPr>
        <p:spPr>
          <a:xfrm>
            <a:off x="685800" y="137160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5" name="Icono Aislamiento por compañía" descr="Aislamiento por compañí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442" y="1482242"/>
            <a:ext cx="281635" cy="281635"/>
          </a:xfrm>
          <a:prstGeom prst="rect">
            <a:avLst/>
          </a:prstGeom>
        </p:spPr>
      </p:pic>
      <p:sp>
        <p:nvSpPr>
          <p:cNvPr id="6" name="Título Aislamiento por compañía"/>
          <p:cNvSpPr txBox="1"/>
          <p:nvPr/>
        </p:nvSpPr>
        <p:spPr>
          <a:xfrm>
            <a:off x="1325880" y="13716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Aislamiento por compañía</a:t>
            </a:r>
            <a:endParaRPr lang="en-US" sz="1800" dirty="0"/>
          </a:p>
        </p:txBody>
      </p:sp>
      <p:sp>
        <p:nvSpPr>
          <p:cNvPr id="7" name="Lista Aislamiento por compañía"/>
          <p:cNvSpPr txBox="1"/>
          <p:nvPr/>
        </p:nvSpPr>
        <p:spPr>
          <a:xfrm>
            <a:off x="685800" y="210312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company_id en cada tabla de negocio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 compañía sale del token, nunca de la petición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Filtro global en todas las consultas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Claves foráneas compuestas</a:t>
            </a:r>
            <a:endParaRPr lang="en-US" sz="1400" dirty="0"/>
          </a:p>
        </p:txBody>
      </p:sp>
      <p:sp>
        <p:nvSpPr>
          <p:cNvPr id="8" name="Tarjeta Acceso controlado"/>
          <p:cNvSpPr/>
          <p:nvPr/>
        </p:nvSpPr>
        <p:spPr>
          <a:xfrm>
            <a:off x="4663440" y="1188720"/>
            <a:ext cx="402336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/>
        </p:spPr>
      </p:sp>
      <p:sp>
        <p:nvSpPr>
          <p:cNvPr id="9" name="Círculo Acceso controlado"/>
          <p:cNvSpPr/>
          <p:nvPr/>
        </p:nvSpPr>
        <p:spPr>
          <a:xfrm>
            <a:off x="4892040" y="13716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o Acceso controlado" descr="Acceso controlad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2682" y="1482242"/>
            <a:ext cx="281635" cy="281635"/>
          </a:xfrm>
          <a:prstGeom prst="rect">
            <a:avLst/>
          </a:prstGeom>
        </p:spPr>
      </p:pic>
      <p:sp>
        <p:nvSpPr>
          <p:cNvPr id="11" name="Título Acceso controlado"/>
          <p:cNvSpPr txBox="1"/>
          <p:nvPr/>
        </p:nvSpPr>
        <p:spPr>
          <a:xfrm>
            <a:off x="5532120" y="13716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Acceso controlado</a:t>
            </a:r>
            <a:endParaRPr lang="en-US" sz="1800" dirty="0"/>
          </a:p>
        </p:txBody>
      </p:sp>
      <p:sp>
        <p:nvSpPr>
          <p:cNvPr id="12" name="Lista Acceso controlado"/>
          <p:cNvSpPr txBox="1"/>
          <p:nvPr/>
        </p:nvSpPr>
        <p:spPr>
          <a:xfrm>
            <a:off x="4892040" y="210312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Registro cerrado: código de invitación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Sesión compartida entre pestañas, JWT de 30 min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Contraseña temporal de un solo uso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Contraseñas de 12 a 128 caracteres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Inicio y navegación</a:t>
            </a:r>
            <a:endParaRPr lang="en-US" sz="2800" dirty="0"/>
          </a:p>
        </p:txBody>
      </p:sp>
      <p:pic>
        <p:nvPicPr>
          <p:cNvPr id="3" name="Captura Pantalla de inicio" descr="Pantalla de inici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760720" cy="2887861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  <p:sp>
        <p:nvSpPr>
          <p:cNvPr id="4" name="Nota 1"/>
          <p:cNvSpPr txBox="1"/>
          <p:nvPr/>
        </p:nvSpPr>
        <p:spPr>
          <a:xfrm>
            <a:off x="6492240" y="1188720"/>
            <a:ext cx="21945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Menú por secciones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General y Gestión; Gestión solo para responsables.</a:t>
            </a:r>
            <a:endParaRPr lang="en-US" sz="1400" dirty="0"/>
          </a:p>
        </p:txBody>
      </p:sp>
      <p:sp>
        <p:nvSpPr>
          <p:cNvPr id="5" name="Nota 2"/>
          <p:cNvSpPr txBox="1"/>
          <p:nvPr/>
        </p:nvSpPr>
        <p:spPr>
          <a:xfrm>
            <a:off x="6492240" y="2286000"/>
            <a:ext cx="21945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Fichar con un clic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Iniciar, pausar, comida y finalizar.</a:t>
            </a:r>
            <a:endParaRPr lang="en-US" sz="1400" dirty="0"/>
          </a:p>
        </p:txBody>
      </p:sp>
      <p:sp>
        <p:nvSpPr>
          <p:cNvPr id="6" name="Nota 3"/>
          <p:cNvSpPr txBox="1"/>
          <p:nvPr/>
        </p:nvSpPr>
        <p:spPr>
          <a:xfrm>
            <a:off x="6492240" y="3383280"/>
            <a:ext cx="21945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Sesión compartida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Una pestaña nueva entra sin volver a iniciar sesión.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Equipo: personas a cargo</a:t>
            </a:r>
            <a:endParaRPr lang="en-US" sz="2800" dirty="0"/>
          </a:p>
        </p:txBody>
      </p:sp>
      <p:pic>
        <p:nvPicPr>
          <p:cNvPr id="3" name="Captura Personas a cargo" descr="Personas a car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760720" cy="2887861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  <p:sp>
        <p:nvSpPr>
          <p:cNvPr id="4" name="Nota 1"/>
          <p:cNvSpPr txBox="1"/>
          <p:nvPr/>
        </p:nvSpPr>
        <p:spPr>
          <a:xfrm>
            <a:off x="6492240" y="1188720"/>
            <a:ext cx="21945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Dos pestañas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Personas a cargo y Fichajes, con enlace propio.</a:t>
            </a:r>
            <a:endParaRPr lang="en-US" sz="1400" dirty="0"/>
          </a:p>
        </p:txBody>
      </p:sp>
      <p:sp>
        <p:nvSpPr>
          <p:cNvPr id="5" name="Nota 2"/>
          <p:cNvSpPr txBox="1"/>
          <p:nvPr/>
        </p:nvSpPr>
        <p:spPr>
          <a:xfrm>
            <a:off x="6492240" y="2286000"/>
            <a:ext cx="21945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Ver fichajes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Salta a los fichajes de esa persona.</a:t>
            </a:r>
            <a:endParaRPr lang="en-US" sz="1400" dirty="0"/>
          </a:p>
        </p:txBody>
      </p:sp>
      <p:sp>
        <p:nvSpPr>
          <p:cNvPr id="6" name="Nota 3"/>
          <p:cNvSpPr txBox="1"/>
          <p:nvPr/>
        </p:nvSpPr>
        <p:spPr>
          <a:xfrm>
            <a:off x="6492240" y="3383280"/>
            <a:ext cx="21945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Contraseña temporal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 muestra una sola vez al regenerarla.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Fichajes del equipo con su jornada</a:t>
            </a:r>
            <a:endParaRPr lang="en-US" sz="2800" dirty="0"/>
          </a:p>
        </p:txBody>
      </p:sp>
      <p:pic>
        <p:nvPicPr>
          <p:cNvPr id="3" name="Captura Fichajes del equipo" descr="Fichajes del equip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760720" cy="2887861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  <p:sp>
        <p:nvSpPr>
          <p:cNvPr id="4" name="Nota 1"/>
          <p:cNvSpPr txBox="1"/>
          <p:nvPr/>
        </p:nvSpPr>
        <p:spPr>
          <a:xfrm>
            <a:off x="6492240" y="1188720"/>
            <a:ext cx="21945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Resumen del mes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Trabajado, pausas, comidas y días con fichajes.</a:t>
            </a:r>
            <a:endParaRPr lang="en-US" sz="1400" dirty="0"/>
          </a:p>
        </p:txBody>
      </p:sp>
      <p:sp>
        <p:nvSpPr>
          <p:cNvPr id="5" name="Nota 2"/>
          <p:cNvSpPr txBox="1"/>
          <p:nvPr/>
        </p:nvSpPr>
        <p:spPr>
          <a:xfrm>
            <a:off x="6492240" y="2286000"/>
            <a:ext cx="21945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Jornada prevista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Horario asignado, repetido en cada día.</a:t>
            </a:r>
            <a:endParaRPr lang="en-US" sz="1400" dirty="0"/>
          </a:p>
        </p:txBody>
      </p:sp>
      <p:sp>
        <p:nvSpPr>
          <p:cNvPr id="6" name="Nota 3"/>
          <p:cNvSpPr txBox="1"/>
          <p:nvPr/>
        </p:nvSpPr>
        <p:spPr>
          <a:xfrm>
            <a:off x="6492240" y="3383280"/>
            <a:ext cx="21945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Franjas por día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Trabajo, pausa y comida de un vistazo.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Jornadas y asignación</a:t>
            </a:r>
            <a:endParaRPr lang="en-US" sz="2800" dirty="0"/>
          </a:p>
        </p:txBody>
      </p:sp>
      <p:pic>
        <p:nvPicPr>
          <p:cNvPr id="3" name="Captura Jornadas" descr="Jornad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760720" cy="2887861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  <p:sp>
        <p:nvSpPr>
          <p:cNvPr id="4" name="Nota 1"/>
          <p:cNvSpPr txBox="1"/>
          <p:nvPr/>
        </p:nvSpPr>
        <p:spPr>
          <a:xfrm>
            <a:off x="6492240" y="1188720"/>
            <a:ext cx="21945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Una ventana para todo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Crear y editar usan el mismo diálogo.</a:t>
            </a:r>
            <a:endParaRPr lang="en-US" sz="1400" dirty="0"/>
          </a:p>
        </p:txBody>
      </p:sp>
      <p:sp>
        <p:nvSpPr>
          <p:cNvPr id="5" name="Nota 2"/>
          <p:cNvSpPr txBox="1"/>
          <p:nvPr/>
        </p:nvSpPr>
        <p:spPr>
          <a:xfrm>
            <a:off x="6492240" y="2286000"/>
            <a:ext cx="21945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Entrada y salida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 almuerzo, pausa y días; de ahí salen las horas esperadas.</a:t>
            </a:r>
            <a:endParaRPr lang="en-US" sz="1400" dirty="0"/>
          </a:p>
        </p:txBody>
      </p:sp>
      <p:sp>
        <p:nvSpPr>
          <p:cNvPr id="6" name="Nota 3"/>
          <p:cNvSpPr txBox="1"/>
          <p:nvPr/>
        </p:nvSpPr>
        <p:spPr>
          <a:xfrm>
            <a:off x="6492240" y="3383280"/>
            <a:ext cx="21945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Asignación por persona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Pestaña propia; se refleja en sus fichajes.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Asistente con tablas y CSV</a:t>
            </a:r>
            <a:endParaRPr lang="en-US" sz="2800" dirty="0"/>
          </a:p>
        </p:txBody>
      </p:sp>
      <p:pic>
        <p:nvPicPr>
          <p:cNvPr id="3" name="Captura Asistente con tabla" descr="Asistente con tabl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760720" cy="2887861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  <p:sp>
        <p:nvSpPr>
          <p:cNvPr id="4" name="Nota 1"/>
          <p:cNvSpPr txBox="1"/>
          <p:nvPr/>
        </p:nvSpPr>
        <p:spPr>
          <a:xfrm>
            <a:off x="6492240" y="1188720"/>
            <a:ext cx="21945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Tablas y CSV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Las listas salen en tabla y se descargan.</a:t>
            </a:r>
            <a:endParaRPr lang="en-US" sz="1400" dirty="0"/>
          </a:p>
        </p:txBody>
      </p:sp>
      <p:sp>
        <p:nvSpPr>
          <p:cNvPr id="5" name="Nota 2"/>
          <p:cNvSpPr txBox="1"/>
          <p:nvPr/>
        </p:nvSpPr>
        <p:spPr>
          <a:xfrm>
            <a:off x="6492240" y="2286000"/>
            <a:ext cx="21945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Horas extra del servidor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Según la jornada de cada persona; 8 h si no tiene hora de salida.</a:t>
            </a:r>
            <a:endParaRPr lang="en-US" sz="1400" dirty="0"/>
          </a:p>
        </p:txBody>
      </p:sp>
      <p:sp>
        <p:nvSpPr>
          <p:cNvPr id="6" name="Nota 3"/>
          <p:cNvSpPr txBox="1"/>
          <p:nvPr/>
        </p:nvSpPr>
        <p:spPr>
          <a:xfrm>
            <a:off x="6492240" y="3383280"/>
            <a:ext cx="21945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Solo fichajes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Herramientas de solo lectura, por compañía.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Calidad de ingeniería</a:t>
            </a:r>
            <a:endParaRPr lang="en-US" sz="2800" dirty="0"/>
          </a:p>
        </p:txBody>
      </p:sp>
      <p:sp>
        <p:nvSpPr>
          <p:cNvPr id="3" name="Dato cobertura de Domain"/>
          <p:cNvSpPr/>
          <p:nvPr/>
        </p:nvSpPr>
        <p:spPr>
          <a:xfrm>
            <a:off x="457200" y="1234440"/>
            <a:ext cx="192024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4" name="Cifra cobertura de Domain"/>
          <p:cNvSpPr txBox="1"/>
          <p:nvPr/>
        </p:nvSpPr>
        <p:spPr>
          <a:xfrm>
            <a:off x="457200" y="13716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100 %</a:t>
            </a:r>
            <a:endParaRPr lang="en-US" sz="4400" dirty="0"/>
          </a:p>
        </p:txBody>
      </p:sp>
      <p:sp>
        <p:nvSpPr>
          <p:cNvPr id="5" name="Etiqueta cobertura de Domain"/>
          <p:cNvSpPr txBox="1"/>
          <p:nvPr/>
        </p:nvSpPr>
        <p:spPr>
          <a:xfrm>
            <a:off x="594360" y="228600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cobertura de Domain</a:t>
            </a:r>
            <a:endParaRPr lang="en-US" sz="1400" dirty="0"/>
          </a:p>
        </p:txBody>
      </p:sp>
      <p:sp>
        <p:nvSpPr>
          <p:cNvPr id="6" name="Dato mínimo en Application"/>
          <p:cNvSpPr/>
          <p:nvPr/>
        </p:nvSpPr>
        <p:spPr>
          <a:xfrm>
            <a:off x="2560320" y="1234440"/>
            <a:ext cx="192024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7" name="Cifra mínimo en Application"/>
          <p:cNvSpPr txBox="1"/>
          <p:nvPr/>
        </p:nvSpPr>
        <p:spPr>
          <a:xfrm>
            <a:off x="2560320" y="13716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4"/>
                </a:solidFill>
              </a:rPr>
              <a:t>80 %</a:t>
            </a:r>
            <a:endParaRPr lang="en-US" sz="4400" dirty="0"/>
          </a:p>
        </p:txBody>
      </p:sp>
      <p:sp>
        <p:nvSpPr>
          <p:cNvPr id="8" name="Etiqueta mínimo en Application"/>
          <p:cNvSpPr txBox="1"/>
          <p:nvPr/>
        </p:nvSpPr>
        <p:spPr>
          <a:xfrm>
            <a:off x="2697480" y="228600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mínimo en Application</a:t>
            </a:r>
            <a:endParaRPr lang="en-US" sz="1400" dirty="0"/>
          </a:p>
        </p:txBody>
      </p:sp>
      <p:sp>
        <p:nvSpPr>
          <p:cNvPr id="9" name="Dato pull requests"/>
          <p:cNvSpPr/>
          <p:nvPr/>
        </p:nvSpPr>
        <p:spPr>
          <a:xfrm>
            <a:off x="4663440" y="1234440"/>
            <a:ext cx="192024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10" name="Cifra pull requests"/>
          <p:cNvSpPr txBox="1"/>
          <p:nvPr/>
        </p:nvSpPr>
        <p:spPr>
          <a:xfrm>
            <a:off x="4663440" y="13716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3"/>
                </a:solidFill>
              </a:rPr>
              <a:t>60</a:t>
            </a:r>
            <a:endParaRPr lang="en-US" sz="4400" dirty="0"/>
          </a:p>
        </p:txBody>
      </p:sp>
      <p:sp>
        <p:nvSpPr>
          <p:cNvPr id="11" name="Etiqueta pull requests"/>
          <p:cNvSpPr txBox="1"/>
          <p:nvPr/>
        </p:nvSpPr>
        <p:spPr>
          <a:xfrm>
            <a:off x="4800600" y="228600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pull requests</a:t>
            </a:r>
            <a:endParaRPr lang="en-US" sz="1400" dirty="0"/>
          </a:p>
        </p:txBody>
      </p:sp>
      <p:sp>
        <p:nvSpPr>
          <p:cNvPr id="12" name="Dato decisiones de arquitectura (ADR)"/>
          <p:cNvSpPr/>
          <p:nvPr/>
        </p:nvSpPr>
        <p:spPr>
          <a:xfrm>
            <a:off x="6766560" y="1234440"/>
            <a:ext cx="192024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13" name="Cifra decisiones de arquitectura (ADR)"/>
          <p:cNvSpPr txBox="1"/>
          <p:nvPr/>
        </p:nvSpPr>
        <p:spPr>
          <a:xfrm>
            <a:off x="6766560" y="13716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5"/>
                </a:solidFill>
              </a:rPr>
              <a:t>31</a:t>
            </a:r>
            <a:endParaRPr lang="en-US" sz="4400" dirty="0"/>
          </a:p>
        </p:txBody>
      </p:sp>
      <p:sp>
        <p:nvSpPr>
          <p:cNvPr id="14" name="Etiqueta decisiones de arquitectura (ADR)"/>
          <p:cNvSpPr txBox="1"/>
          <p:nvPr/>
        </p:nvSpPr>
        <p:spPr>
          <a:xfrm>
            <a:off x="6903720" y="228600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decisiones de arquitectura (ADR)</a:t>
            </a:r>
            <a:endParaRPr lang="en-US" sz="1400" dirty="0"/>
          </a:p>
        </p:txBody>
      </p:sp>
      <p:sp>
        <p:nvSpPr>
          <p:cNvPr id="15" name="Flujo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Flujo de trabajo: especificación (SDD), pruebas primero (TDD) y revisión acotada antes de cada pull request. La integración continua comprueba formato, análisis, pruebas, cobertura y paquetes vulnerables.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Despliegue y datos de demostración</a:t>
            </a:r>
            <a:endParaRPr lang="en-US" sz="2800" dirty="0"/>
          </a:p>
        </p:txBody>
      </p:sp>
      <p:sp>
        <p:nvSpPr>
          <p:cNvPr id="3" name="Tarjeta despliegue"/>
          <p:cNvSpPr/>
          <p:nvPr/>
        </p:nvSpPr>
        <p:spPr>
          <a:xfrm>
            <a:off x="457200" y="1188720"/>
            <a:ext cx="402336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/>
        </p:spPr>
      </p:sp>
      <p:sp>
        <p:nvSpPr>
          <p:cNvPr id="4" name="Círculo Despliegue"/>
          <p:cNvSpPr/>
          <p:nvPr/>
        </p:nvSpPr>
        <p:spPr>
          <a:xfrm>
            <a:off x="685800" y="13716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o Despliegue" descr="Desplieg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442" y="1482242"/>
            <a:ext cx="281635" cy="281635"/>
          </a:xfrm>
          <a:prstGeom prst="rect">
            <a:avLst/>
          </a:prstGeom>
        </p:spPr>
      </p:pic>
      <p:sp>
        <p:nvSpPr>
          <p:cNvPr id="6" name="Título Railway"/>
          <p:cNvSpPr txBox="1"/>
          <p:nvPr/>
        </p:nvSpPr>
        <p:spPr>
          <a:xfrm>
            <a:off x="1325880" y="13716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Railway</a:t>
            </a:r>
            <a:endParaRPr lang="en-US" sz="1800" dirty="0"/>
          </a:p>
        </p:txBody>
      </p:sp>
      <p:sp>
        <p:nvSpPr>
          <p:cNvPr id="7" name="Lista Railway"/>
          <p:cNvSpPr txBox="1"/>
          <p:nvPr/>
        </p:nvSpPr>
        <p:spPr>
          <a:xfrm>
            <a:off x="685800" y="210312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API, Web y PostgreSQL en servicios separados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Migraciones en dos pasos, sin romper el esquema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Despliegue manual con puertas previas documentadas</a:t>
            </a:r>
            <a:endParaRPr lang="en-US" sz="1400" dirty="0"/>
          </a:p>
        </p:txBody>
      </p:sp>
      <p:sp>
        <p:nvSpPr>
          <p:cNvPr id="8" name="Tarjeta demo"/>
          <p:cNvSpPr/>
          <p:nvPr/>
        </p:nvSpPr>
        <p:spPr>
          <a:xfrm>
            <a:off x="4663440" y="1188720"/>
            <a:ext cx="402336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/>
        </p:spPr>
      </p:sp>
      <p:sp>
        <p:nvSpPr>
          <p:cNvPr id="9" name="Círculo Datos"/>
          <p:cNvSpPr/>
          <p:nvPr/>
        </p:nvSpPr>
        <p:spPr>
          <a:xfrm>
            <a:off x="4892040" y="137160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0" name="Icono Datos" descr="Dato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2682" y="1482242"/>
            <a:ext cx="281635" cy="281635"/>
          </a:xfrm>
          <a:prstGeom prst="rect">
            <a:avLst/>
          </a:prstGeom>
        </p:spPr>
      </p:pic>
      <p:sp>
        <p:nvSpPr>
          <p:cNvPr id="11" name="Título demo"/>
          <p:cNvSpPr txBox="1"/>
          <p:nvPr/>
        </p:nvSpPr>
        <p:spPr>
          <a:xfrm>
            <a:off x="5532120" y="13716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Compañía «Demo TFM»</a:t>
            </a:r>
            <a:endParaRPr lang="en-US" sz="1800" dirty="0"/>
          </a:p>
        </p:txBody>
      </p:sp>
      <p:sp>
        <p:nvSpPr>
          <p:cNvPr id="12" name="Cifra personas"/>
          <p:cNvSpPr txBox="1"/>
          <p:nvPr/>
        </p:nvSpPr>
        <p:spPr>
          <a:xfrm>
            <a:off x="4846320" y="21488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4"/>
                </a:solidFill>
              </a:rPr>
              <a:t>9</a:t>
            </a:r>
            <a:endParaRPr lang="en-US" sz="2800" dirty="0"/>
          </a:p>
        </p:txBody>
      </p:sp>
      <p:sp>
        <p:nvSpPr>
          <p:cNvPr id="13" name="Etiqueta personas"/>
          <p:cNvSpPr txBox="1"/>
          <p:nvPr/>
        </p:nvSpPr>
        <p:spPr>
          <a:xfrm>
            <a:off x="4846320" y="27889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personas</a:t>
            </a:r>
            <a:endParaRPr lang="en-US" sz="1400" dirty="0"/>
          </a:p>
        </p:txBody>
      </p:sp>
      <p:sp>
        <p:nvSpPr>
          <p:cNvPr id="14" name="Cifra jornadas"/>
          <p:cNvSpPr txBox="1"/>
          <p:nvPr/>
        </p:nvSpPr>
        <p:spPr>
          <a:xfrm>
            <a:off x="6080760" y="21488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4"/>
                </a:solidFill>
              </a:rPr>
              <a:t>3</a:t>
            </a:r>
            <a:endParaRPr lang="en-US" sz="2800" dirty="0"/>
          </a:p>
        </p:txBody>
      </p:sp>
      <p:sp>
        <p:nvSpPr>
          <p:cNvPr id="15" name="Etiqueta jornadas"/>
          <p:cNvSpPr txBox="1"/>
          <p:nvPr/>
        </p:nvSpPr>
        <p:spPr>
          <a:xfrm>
            <a:off x="6080760" y="27889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jornadas</a:t>
            </a:r>
            <a:endParaRPr lang="en-US" sz="1400" dirty="0"/>
          </a:p>
        </p:txBody>
      </p:sp>
      <p:sp>
        <p:nvSpPr>
          <p:cNvPr id="16" name="Cifra fichajes"/>
          <p:cNvSpPr txBox="1"/>
          <p:nvPr/>
        </p:nvSpPr>
        <p:spPr>
          <a:xfrm>
            <a:off x="7315200" y="21488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4"/>
                </a:solidFill>
              </a:rPr>
              <a:t>3.900</a:t>
            </a:r>
            <a:endParaRPr lang="en-US" sz="2800" dirty="0"/>
          </a:p>
        </p:txBody>
      </p:sp>
      <p:sp>
        <p:nvSpPr>
          <p:cNvPr id="17" name="Etiqueta fichajes"/>
          <p:cNvSpPr txBox="1"/>
          <p:nvPr/>
        </p:nvSpPr>
        <p:spPr>
          <a:xfrm>
            <a:off x="7315200" y="27889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fichajes</a:t>
            </a:r>
            <a:endParaRPr lang="en-US" sz="1400" dirty="0"/>
          </a:p>
        </p:txBody>
      </p:sp>
      <p:sp>
        <p:nvSpPr>
          <p:cNvPr id="18" name="Descripción demo"/>
          <p:cNvSpPr txBox="1"/>
          <p:nvPr/>
        </p:nvSpPr>
        <p:spPr>
          <a:xfrm>
            <a:off x="4892040" y="33375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 junio a octubre de 2026, con perfiles variados para hacer preguntas al asistente.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Conclusiones y siguientes pasos</a:t>
            </a:r>
            <a:endParaRPr lang="en-US" sz="2800" dirty="0"/>
          </a:p>
        </p:txBody>
      </p:sp>
      <p:sp>
        <p:nvSpPr>
          <p:cNvPr id="3" name="Tarjeta Conclusiones"/>
          <p:cNvSpPr/>
          <p:nvPr/>
        </p:nvSpPr>
        <p:spPr>
          <a:xfrm>
            <a:off x="457200" y="1188720"/>
            <a:ext cx="402336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/>
        </p:spPr>
      </p:sp>
      <p:sp>
        <p:nvSpPr>
          <p:cNvPr id="4" name="Marca Conclusiones"/>
          <p:cNvSpPr/>
          <p:nvPr/>
        </p:nvSpPr>
        <p:spPr>
          <a:xfrm>
            <a:off x="685800" y="1417320"/>
            <a:ext cx="182880" cy="18288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5" name="Título Conclusiones"/>
          <p:cNvSpPr txBox="1"/>
          <p:nvPr/>
        </p:nvSpPr>
        <p:spPr>
          <a:xfrm>
            <a:off x="1005840" y="1325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Conclusiones</a:t>
            </a:r>
            <a:endParaRPr lang="en-US" sz="1800" dirty="0"/>
          </a:p>
        </p:txBody>
      </p:sp>
      <p:sp>
        <p:nvSpPr>
          <p:cNvPr id="6" name="Lista Conclusiones"/>
          <p:cNvSpPr txBox="1"/>
          <p:nvPr/>
        </p:nvSpPr>
        <p:spPr>
          <a:xfrm>
            <a:off x="685800" y="201168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Producto completo de extremo a extremo y desplegado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Aislamiento entre compañías comprobado con dos empresas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Asistente configurable sin cambiar código</a:t>
            </a:r>
            <a:endParaRPr lang="en-US" sz="1400" dirty="0"/>
          </a:p>
        </p:txBody>
      </p:sp>
      <p:sp>
        <p:nvSpPr>
          <p:cNvPr id="7" name="Tarjeta Siguientes pasos"/>
          <p:cNvSpPr/>
          <p:nvPr/>
        </p:nvSpPr>
        <p:spPr>
          <a:xfrm>
            <a:off x="4663440" y="1188720"/>
            <a:ext cx="402336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/>
        </p:spPr>
      </p:sp>
      <p:sp>
        <p:nvSpPr>
          <p:cNvPr id="8" name="Marca Siguientes pasos"/>
          <p:cNvSpPr/>
          <p:nvPr/>
        </p:nvSpPr>
        <p:spPr>
          <a:xfrm>
            <a:off x="4892040" y="1417320"/>
            <a:ext cx="182880" cy="1828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ítulo Siguientes pasos"/>
          <p:cNvSpPr txBox="1"/>
          <p:nvPr/>
        </p:nvSpPr>
        <p:spPr>
          <a:xfrm>
            <a:off x="5212080" y="1325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Siguientes pasos</a:t>
            </a:r>
            <a:endParaRPr lang="en-US" sz="1800" dirty="0"/>
          </a:p>
        </p:txBody>
      </p:sp>
      <p:sp>
        <p:nvSpPr>
          <p:cNvPr id="10" name="Lista Siguientes pasos"/>
          <p:cNvSpPr txBox="1"/>
          <p:nvPr/>
        </p:nvSpPr>
        <p:spPr>
          <a:xfrm>
            <a:off x="4892040" y="201168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Ausencias y saldo de horas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Revisión de accesibilidad y de uso en móvil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Custodia y rotación de la clave maestra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meTracker TFM">
  <a:themeElements>
    <a:clrScheme name="TimeTracker TFM">
      <a:dk1>
        <a:srgbClr val="1A1F36"/>
      </a:dk1>
      <a:lt1>
        <a:srgbClr val="FFFFFF"/>
      </a:lt1>
      <a:dk2>
        <a:srgbClr val="0F1B3D"/>
      </a:dk2>
      <a:lt2>
        <a:srgbClr val="EEF2F8"/>
      </a:lt2>
      <a:accent1>
        <a:srgbClr val="1C6BB0"/>
      </a:accent1>
      <a:accent2>
        <a:srgbClr val="F2A541"/>
      </a:accent2>
      <a:accent3>
        <a:srgbClr val="6B3FA0"/>
      </a:accent3>
      <a:accent4>
        <a:srgbClr val="2E9E83"/>
      </a:accent4>
      <a:accent5>
        <a:srgbClr val="C8553D"/>
      </a:accent5>
      <a:accent6>
        <a:srgbClr val="6B7A93"/>
      </a:accent6>
      <a:hlink>
        <a:srgbClr val="1C6BB0"/>
      </a:hlink>
      <a:folHlink>
        <a:srgbClr val="6B3FA0"/>
      </a:folHlink>
    </a:clrScheme>
    <a:fontScheme name="TimeTracker TFM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TimeTracker: control de tiempos con asistente de IA</dc:title>
  <dc:subject>PptxGenJS Presentation</dc:subject>
  <dc:creator>TFM TimeTracker</dc:creator>
  <cp:lastModifiedBy>TFM TimeTracker</cp:lastModifiedBy>
  <cp:revision>1</cp:revision>
  <dcterms:created xsi:type="dcterms:W3CDTF">2026-10-24T00:57:22Z</dcterms:created>
  <dcterms:modified xsi:type="dcterms:W3CDTF">2026-10-24T00:57:22Z</dcterms:modified>
</cp:coreProperties>
</file>